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Rubik One" panose="020B0604020202020204" charset="-79"/>
      <p:regular r:id="rId19"/>
    </p:embeddedFont>
    <p:embeddedFont>
      <p:font typeface="Rubik" panose="020B0604020202020204" charset="-79"/>
      <p:regular r:id="rId20"/>
    </p:embeddedFont>
    <p:embeddedFont>
      <p:font typeface="Nourd Bold" panose="020B0604020202020204" charset="0"/>
      <p:regular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Rubik Bold" panose="020B0604020202020204" charset="-79"/>
      <p:regular r:id="rId26"/>
    </p:embeddedFont>
    <p:embeddedFont>
      <p:font typeface="ITC Motter Corpus Semicondensed" panose="020B0604020202020204" charset="0"/>
      <p:regular r:id="rId27"/>
    </p:embeddedFont>
    <p:embeddedFont>
      <p:font typeface="Nour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3931094"/>
            <a:chOff x="0" y="0"/>
            <a:chExt cx="2192553" cy="1035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035350"/>
            </a:xfrm>
            <a:custGeom>
              <a:avLst/>
              <a:gdLst/>
              <a:ahLst/>
              <a:cxnLst/>
              <a:rect l="l" t="t" r="r" b="b"/>
              <a:pathLst>
                <a:path w="2192553" h="1035350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998151"/>
                  </a:lnTo>
                  <a:cubicBezTo>
                    <a:pt x="2192553" y="1008017"/>
                    <a:pt x="2188634" y="1017478"/>
                    <a:pt x="2181658" y="1024455"/>
                  </a:cubicBezTo>
                  <a:cubicBezTo>
                    <a:pt x="2174682" y="1031431"/>
                    <a:pt x="2165220" y="1035350"/>
                    <a:pt x="2155354" y="1035350"/>
                  </a:cubicBezTo>
                  <a:lnTo>
                    <a:pt x="37199" y="1035350"/>
                  </a:lnTo>
                  <a:cubicBezTo>
                    <a:pt x="27333" y="1035350"/>
                    <a:pt x="17872" y="1031431"/>
                    <a:pt x="10895" y="1024455"/>
                  </a:cubicBezTo>
                  <a:cubicBezTo>
                    <a:pt x="3919" y="1017478"/>
                    <a:pt x="0" y="1008017"/>
                    <a:pt x="0" y="99815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092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5143500"/>
            <a:ext cx="8324850" cy="4476750"/>
            <a:chOff x="0" y="0"/>
            <a:chExt cx="2192553" cy="1179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179062"/>
            </a:xfrm>
            <a:custGeom>
              <a:avLst/>
              <a:gdLst/>
              <a:ahLst/>
              <a:cxnLst/>
              <a:rect l="l" t="t" r="r" b="b"/>
              <a:pathLst>
                <a:path w="2192553" h="1179062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141863"/>
                  </a:lnTo>
                  <a:cubicBezTo>
                    <a:pt x="2192553" y="1151728"/>
                    <a:pt x="2188634" y="1161190"/>
                    <a:pt x="2181658" y="1168166"/>
                  </a:cubicBezTo>
                  <a:cubicBezTo>
                    <a:pt x="2174682" y="1175143"/>
                    <a:pt x="2165220" y="1179062"/>
                    <a:pt x="2155354" y="1179062"/>
                  </a:cubicBezTo>
                  <a:lnTo>
                    <a:pt x="37199" y="1179062"/>
                  </a:lnTo>
                  <a:cubicBezTo>
                    <a:pt x="27333" y="1179062"/>
                    <a:pt x="17872" y="1175143"/>
                    <a:pt x="10895" y="1168166"/>
                  </a:cubicBezTo>
                  <a:cubicBezTo>
                    <a:pt x="3919" y="1161190"/>
                    <a:pt x="0" y="1151728"/>
                    <a:pt x="0" y="1141863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2553" cy="1236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639300" y="666750"/>
            <a:ext cx="7953375" cy="8953500"/>
            <a:chOff x="0" y="0"/>
            <a:chExt cx="1019032" cy="11471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9032" cy="1147174"/>
            </a:xfrm>
            <a:custGeom>
              <a:avLst/>
              <a:gdLst/>
              <a:ahLst/>
              <a:cxnLst/>
              <a:rect l="l" t="t" r="r" b="b"/>
              <a:pathLst>
                <a:path w="1019032" h="1147174">
                  <a:moveTo>
                    <a:pt x="68139" y="0"/>
                  </a:moveTo>
                  <a:lnTo>
                    <a:pt x="950893" y="0"/>
                  </a:lnTo>
                  <a:cubicBezTo>
                    <a:pt x="988525" y="0"/>
                    <a:pt x="1019032" y="30507"/>
                    <a:pt x="1019032" y="68139"/>
                  </a:cubicBezTo>
                  <a:lnTo>
                    <a:pt x="1019032" y="1079035"/>
                  </a:lnTo>
                  <a:cubicBezTo>
                    <a:pt x="1019032" y="1097106"/>
                    <a:pt x="1011853" y="1114438"/>
                    <a:pt x="999074" y="1127216"/>
                  </a:cubicBezTo>
                  <a:cubicBezTo>
                    <a:pt x="986296" y="1139995"/>
                    <a:pt x="968964" y="1147174"/>
                    <a:pt x="950893" y="1147174"/>
                  </a:cubicBezTo>
                  <a:lnTo>
                    <a:pt x="68139" y="1147174"/>
                  </a:lnTo>
                  <a:cubicBezTo>
                    <a:pt x="50067" y="1147174"/>
                    <a:pt x="32736" y="1139995"/>
                    <a:pt x="19957" y="1127216"/>
                  </a:cubicBezTo>
                  <a:cubicBezTo>
                    <a:pt x="7179" y="1114438"/>
                    <a:pt x="0" y="1097106"/>
                    <a:pt x="0" y="1079035"/>
                  </a:cubicBezTo>
                  <a:lnTo>
                    <a:pt x="0" y="68139"/>
                  </a:lnTo>
                  <a:cubicBezTo>
                    <a:pt x="0" y="50067"/>
                    <a:pt x="7179" y="32736"/>
                    <a:pt x="19957" y="19957"/>
                  </a:cubicBezTo>
                  <a:cubicBezTo>
                    <a:pt x="32736" y="7179"/>
                    <a:pt x="50067" y="0"/>
                    <a:pt x="68139" y="0"/>
                  </a:cubicBezTo>
                  <a:close/>
                </a:path>
              </a:pathLst>
            </a:custGeom>
            <a:blipFill>
              <a:blip r:embed="rId2"/>
              <a:stretch>
                <a:fillRect l="-538" r="-359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5574674"/>
            <a:ext cx="7962900" cy="131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42"/>
              </a:lnSpc>
            </a:pPr>
            <a:r>
              <a:rPr lang="en-US" sz="3201" u="sng" spc="192">
                <a:solidFill>
                  <a:srgbClr val="424040"/>
                </a:solidFill>
                <a:latin typeface="Nourd"/>
                <a:ea typeface="Nourd"/>
                <a:cs typeface="Nourd"/>
                <a:sym typeface="Nourd"/>
              </a:rPr>
              <a:t>Prepared by:</a:t>
            </a:r>
          </a:p>
          <a:p>
            <a:pPr marL="0" lvl="0" indent="0" algn="l">
              <a:lnSpc>
                <a:spcPts val="5442"/>
              </a:lnSpc>
            </a:pPr>
            <a:r>
              <a:rPr lang="en-US" sz="3201" b="1" spc="192">
                <a:solidFill>
                  <a:srgbClr val="424040"/>
                </a:solidFill>
                <a:latin typeface="Nourd Bold"/>
                <a:ea typeface="Nourd Bold"/>
                <a:cs typeface="Nourd Bold"/>
                <a:sym typeface="Nourd Bold"/>
              </a:rPr>
              <a:t>CharuTrishoola Mohan Udaiyar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1576634"/>
            <a:ext cx="7725211" cy="2111326"/>
            <a:chOff x="0" y="0"/>
            <a:chExt cx="10300281" cy="281510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85725"/>
              <a:ext cx="10300281" cy="2066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299"/>
                </a:lnSpc>
              </a:pPr>
              <a:r>
                <a:rPr lang="en-US" sz="4500">
                  <a:solidFill>
                    <a:srgbClr val="424040"/>
                  </a:solidFill>
                  <a:latin typeface="Rubik One"/>
                  <a:ea typeface="Rubik One"/>
                  <a:cs typeface="Rubik One"/>
                  <a:sym typeface="Rubik One"/>
                </a:rPr>
                <a:t>ZOMATO RESTAURANTS EXPANSION ANALYSIS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2321283"/>
              <a:ext cx="10300281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424040"/>
                  </a:solidFill>
                  <a:latin typeface="Nourd"/>
                  <a:ea typeface="Nourd"/>
                  <a:cs typeface="Nourd"/>
                  <a:sym typeface="Nourd"/>
                </a:rPr>
                <a:t>A Data-Driven Market Expansion Study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7605497"/>
            <a:ext cx="7962900" cy="131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42"/>
              </a:lnSpc>
              <a:spcBef>
                <a:spcPct val="0"/>
              </a:spcBef>
            </a:pPr>
            <a:r>
              <a:rPr lang="en-US" sz="3201" u="sng" strike="noStrike" spc="192">
                <a:solidFill>
                  <a:srgbClr val="424040"/>
                </a:solidFill>
                <a:latin typeface="Nourd"/>
                <a:ea typeface="Nourd"/>
                <a:cs typeface="Nourd"/>
                <a:sym typeface="Nourd"/>
              </a:rPr>
              <a:t>Date:</a:t>
            </a:r>
          </a:p>
          <a:p>
            <a:pPr marL="0" lvl="0" indent="0" algn="l">
              <a:lnSpc>
                <a:spcPts val="5442"/>
              </a:lnSpc>
              <a:spcBef>
                <a:spcPct val="0"/>
              </a:spcBef>
            </a:pPr>
            <a:r>
              <a:rPr lang="en-US" sz="3201" b="1" u="sng" strike="noStrike" spc="192">
                <a:solidFill>
                  <a:srgbClr val="424040"/>
                </a:solidFill>
                <a:latin typeface="Nourd Bold"/>
                <a:ea typeface="Nourd Bold"/>
                <a:cs typeface="Nourd Bold"/>
                <a:sym typeface="Nourd Bold"/>
              </a:rPr>
              <a:t>October 23,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3150961"/>
            <a:ext cx="12951225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Zomato operates across multiple countries with varying market maturity and competition levels.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Selecting the right countries for expansion is essential to drive sustainable growth and reduce market entry risk.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This project analyzes global restaurant data to identify high-potential markets using data-driven insights.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105025" y="1428750"/>
            <a:ext cx="9692151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PRO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BLEM STATEMENT</a:t>
            </a:r>
          </a:p>
        </p:txBody>
      </p:sp>
      <p:sp>
        <p:nvSpPr>
          <p:cNvPr id="7" name="Freeform 7"/>
          <p:cNvSpPr/>
          <p:nvPr/>
        </p:nvSpPr>
        <p:spPr>
          <a:xfrm>
            <a:off x="11635251" y="1514475"/>
            <a:ext cx="1000125" cy="1000125"/>
          </a:xfrm>
          <a:custGeom>
            <a:avLst/>
            <a:gdLst/>
            <a:ahLst/>
            <a:cxnLst/>
            <a:rect l="l" t="t" r="r" b="b"/>
            <a:pathLst>
              <a:path w="1000125" h="1000125">
                <a:moveTo>
                  <a:pt x="0" y="0"/>
                </a:moveTo>
                <a:lnTo>
                  <a:pt x="1000125" y="0"/>
                </a:lnTo>
                <a:lnTo>
                  <a:pt x="1000125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428750"/>
            <a:ext cx="7354669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DATA OVERVIEW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11607" y="3366118"/>
            <a:ext cx="14075366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Major attributes analyzed include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country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r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atings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votes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cost for two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cuisines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online delivery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and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table booking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Data covers restaurants operating in diverse market conditions.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Currency values were standardized and converted into INR for consistency.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Data was cleaned to handle missing values and duplicates.</a:t>
            </a:r>
          </a:p>
        </p:txBody>
      </p:sp>
      <p:sp>
        <p:nvSpPr>
          <p:cNvPr id="7" name="Freeform 7"/>
          <p:cNvSpPr/>
          <p:nvPr/>
        </p:nvSpPr>
        <p:spPr>
          <a:xfrm>
            <a:off x="9699295" y="1562100"/>
            <a:ext cx="1014853" cy="962025"/>
          </a:xfrm>
          <a:custGeom>
            <a:avLst/>
            <a:gdLst/>
            <a:ahLst/>
            <a:cxnLst/>
            <a:rect l="l" t="t" r="r" b="b"/>
            <a:pathLst>
              <a:path w="1014853" h="962025">
                <a:moveTo>
                  <a:pt x="0" y="0"/>
                </a:moveTo>
                <a:lnTo>
                  <a:pt x="1014853" y="0"/>
                </a:lnTo>
                <a:lnTo>
                  <a:pt x="1014853" y="962025"/>
                </a:lnTo>
                <a:lnTo>
                  <a:pt x="0" y="9620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05025" y="2571750"/>
            <a:ext cx="1263967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Datas</a:t>
            </a:r>
            <a:r>
              <a:rPr lang="en-US" sz="24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et Size: 9,552 restaurant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428750"/>
            <a:ext cx="7209631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ME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05025" y="3116168"/>
            <a:ext cx="14077950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Cleaned and standardized the raw restaurant dataset.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Converted all cost-related values into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INR 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for consistency.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Used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pivot tables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to aggregate and summarize data at the country level.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Analyzed patterns across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ratings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votes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pricing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cuisines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and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digital features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Presented insights through an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interactive Excel dashboard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  <p:sp>
        <p:nvSpPr>
          <p:cNvPr id="7" name="Freeform 7"/>
          <p:cNvSpPr/>
          <p:nvPr/>
        </p:nvSpPr>
        <p:spPr>
          <a:xfrm>
            <a:off x="9314656" y="1233505"/>
            <a:ext cx="1176404" cy="1547900"/>
          </a:xfrm>
          <a:custGeom>
            <a:avLst/>
            <a:gdLst/>
            <a:ahLst/>
            <a:cxnLst/>
            <a:rect l="l" t="t" r="r" b="b"/>
            <a:pathLst>
              <a:path w="1176404" h="1547900">
                <a:moveTo>
                  <a:pt x="0" y="0"/>
                </a:moveTo>
                <a:lnTo>
                  <a:pt x="1176404" y="0"/>
                </a:lnTo>
                <a:lnTo>
                  <a:pt x="1176404" y="1547900"/>
                </a:lnTo>
                <a:lnTo>
                  <a:pt x="0" y="1547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465383" cy="2443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696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612648" y="2909753"/>
            <a:ext cx="7100399" cy="5700847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6600" r="-660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3216043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RESTAURANT COUNT BY YEAR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981325"/>
            <a:ext cx="731216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 steady increas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e 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in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r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e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staur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an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o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pe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n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in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g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 indicates rising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gl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o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bal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de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mand fo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r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f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ood serv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ic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Peak years reflect rapid adoption of online food platforms like Zomato.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The trend helps distinguish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mature markets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from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emerging expansion opportunities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74327" y="2785133"/>
            <a:ext cx="7183319" cy="5767423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2214" t="-6207" r="-6371" b="-1025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4701051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RES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TAURANT COUNT BY COUNTRY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718458"/>
            <a:ext cx="7312166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Countries wi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 a high number of restaurants represent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mature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saturated markets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Countries with fewer restaurants indicate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early-stage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under-penetrated markets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This distribution helps prioritize countries for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strategic expansion planning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38974" y="2909753"/>
            <a:ext cx="7100399" cy="5700847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952" r="-95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3698946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AVERAGE RATING BY COUNTRY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718458"/>
            <a:ext cx="731216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Countries with higher average ratings demonstrate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stronger customer satisfaction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Lower-rated countries highlight opportunities for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service quality improvement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Rating comparison helps benchmark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market quality across regions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28212" y="2785133"/>
            <a:ext cx="7211161" cy="5789778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t="-7286" b="-1977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3937752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AVE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RAGE VOTES BY COUNTRY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718458"/>
            <a:ext cx="731216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Countries with hig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her average votes show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stronger online customer engagement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High vote counts reflect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active review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and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feedback culture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Digitally engaged markets are ideal for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platform-led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growth strategies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38974" y="2909753"/>
            <a:ext cx="7100399" cy="5700847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t="-243" b="-243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3698946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TOP 10 CUISINES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981325"/>
            <a:ext cx="731216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The most popular cuisines highlight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global consumer food preferences.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b="1">
              <a:solidFill>
                <a:srgbClr val="424040"/>
              </a:solidFill>
              <a:latin typeface="Rubik Bold"/>
              <a:ea typeface="Rubik Bold"/>
              <a:cs typeface="Rubik Bold"/>
              <a:sym typeface="Rubik Bold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High-demand cuisines should be prioritized for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restaurant onboarding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Cuisine insights support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localized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and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region-specific menu strategies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23608" y="2785133"/>
            <a:ext cx="7215764" cy="5793473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2500" r="-250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3937752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AVE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RAGE COST FOR TWO (INR)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718458"/>
            <a:ext cx="731216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Countries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with higher average cost support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premium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and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fine-dining positioning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Lower-cost countries are better suited for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value-driven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and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high-volume models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Cost comparison enables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market-specific pricing strategies.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538974" y="2909753"/>
            <a:ext cx="7100399" cy="5700847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l="-4138" r="-419" b="-368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4351141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ONLINE DELIVERY ADOPTION (%)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981325"/>
            <a:ext cx="7312166" cy="479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Countries with high online delivery adoption show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strong digital readiness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These markets are ideal for 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delivery-first expansion strategies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Adoption patterns reflect</a:t>
            </a:r>
            <a:r>
              <a:rPr lang="en-US" sz="3000" b="1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 evolving customer ordering behavior</a:t>
            </a: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26440" y="2785133"/>
            <a:ext cx="7212933" cy="5791200"/>
            <a:chOff x="0" y="0"/>
            <a:chExt cx="7467600" cy="59956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67600" cy="4513580"/>
            </a:xfrm>
            <a:custGeom>
              <a:avLst/>
              <a:gdLst/>
              <a:ahLst/>
              <a:cxnLst/>
              <a:rect l="l" t="t" r="r" b="b"/>
              <a:pathLst>
                <a:path w="7467600" h="451358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D77F7E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4514850"/>
              <a:ext cx="7467600" cy="695960"/>
            </a:xfrm>
            <a:custGeom>
              <a:avLst/>
              <a:gdLst/>
              <a:ahLst/>
              <a:cxnLst/>
              <a:rect l="l" t="t" r="r" b="b"/>
              <a:pathLst>
                <a:path w="7467600" h="69596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434265" y="5210810"/>
              <a:ext cx="2596530" cy="786130"/>
            </a:xfrm>
            <a:custGeom>
              <a:avLst/>
              <a:gdLst/>
              <a:ahLst/>
              <a:cxnLst/>
              <a:rect l="l" t="t" r="r" b="b"/>
              <a:pathLst>
                <a:path w="2596530" h="786130">
                  <a:moveTo>
                    <a:pt x="1253815" y="0"/>
                  </a:moveTo>
                  <a:lnTo>
                    <a:pt x="448635" y="0"/>
                  </a:lnTo>
                  <a:cubicBezTo>
                    <a:pt x="448635" y="0"/>
                    <a:pt x="424505" y="370840"/>
                    <a:pt x="399105" y="525780"/>
                  </a:cubicBezTo>
                  <a:cubicBezTo>
                    <a:pt x="354655" y="791210"/>
                    <a:pt x="82875" y="706120"/>
                    <a:pt x="5405" y="762000"/>
                  </a:cubicBezTo>
                  <a:cubicBezTo>
                    <a:pt x="-4755" y="769620"/>
                    <a:pt x="325" y="786130"/>
                    <a:pt x="13025" y="786130"/>
                  </a:cubicBezTo>
                  <a:lnTo>
                    <a:pt x="2583505" y="786130"/>
                  </a:lnTo>
                  <a:cubicBezTo>
                    <a:pt x="2596205" y="786130"/>
                    <a:pt x="2601285" y="769620"/>
                    <a:pt x="2591125" y="762000"/>
                  </a:cubicBezTo>
                  <a:cubicBezTo>
                    <a:pt x="2513655" y="706120"/>
                    <a:pt x="2241875" y="791210"/>
                    <a:pt x="2197425" y="525780"/>
                  </a:cubicBezTo>
                  <a:cubicBezTo>
                    <a:pt x="2172025" y="370840"/>
                    <a:pt x="2147895" y="0"/>
                    <a:pt x="2147895" y="0"/>
                  </a:cubicBezTo>
                  <a:lnTo>
                    <a:pt x="1253815" y="0"/>
                  </a:ln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14960" y="353060"/>
              <a:ext cx="6827520" cy="3835400"/>
            </a:xfrm>
            <a:custGeom>
              <a:avLst/>
              <a:gdLst/>
              <a:ahLst/>
              <a:cxnLst/>
              <a:rect l="l" t="t" r="r" b="b"/>
              <a:pathLst>
                <a:path w="6827520" h="383540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2"/>
              <a:stretch>
                <a:fillRect t="-5049" b="-504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2105025" y="1428750"/>
            <a:ext cx="13937752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ABLE BOOKING ADOPTION (%)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718458"/>
            <a:ext cx="7312166" cy="425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High table booking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adoption reflects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strong dine-in preferences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Lower adoption suggests markets are more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delivery-oriented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These insights help prioritize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feature investments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by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region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19614" y="1292025"/>
            <a:ext cx="17637996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60"/>
              </a:lnSpc>
            </a:pPr>
            <a:r>
              <a:rPr lang="en-US" sz="58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SUGGESTED COUNTRIES FOR EXPANSION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2688947"/>
            <a:ext cx="7312166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Why These Markets?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Balanced pricing and affordability.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Strong online delivery adoption.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Positive customer ratings and engagement.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Relatively lower market saturation.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High demand for popular cuisines.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57249" y="2688947"/>
            <a:ext cx="4987887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Recommended Markets: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Australia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Brazil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Canada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Singapore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Sri Lanka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428750"/>
            <a:ext cx="6429391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SUMM</a:t>
            </a:r>
            <a:r>
              <a:rPr lang="en-US" sz="6600" b="1" u="none" strike="noStrike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45908" y="2758819"/>
            <a:ext cx="12548376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Global restaurant data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was analyzed across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countries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ratings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pricing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cuisines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, and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digital adoption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Market characteristics vary significantly across regions.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Several countries demonstrate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strong expansion potential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 based on balanced demand and digital readiness.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u="none" strike="noStrike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Insights are consolidated through an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interactive dashboard 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for </a:t>
            </a:r>
            <a:r>
              <a:rPr lang="en-US" sz="3000" b="1" u="none" strike="noStrike">
                <a:solidFill>
                  <a:srgbClr val="424040"/>
                </a:solidFill>
                <a:latin typeface="Rubik Bold"/>
                <a:ea typeface="Rubik Bold"/>
                <a:cs typeface="Rubik Bold"/>
                <a:sym typeface="Rubik Bold"/>
              </a:rPr>
              <a:t>decision-making</a:t>
            </a:r>
            <a:r>
              <a:rPr lang="en-US" sz="3000" u="none" strike="noStrike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FECEC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05025" y="1428750"/>
            <a:ext cx="14351141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424040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17213" y="2887860"/>
            <a:ext cx="12596999" cy="532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Prioritize entry into high-potential, low-competition markets.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Focus on countries with strong online delivery adoption.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Onboard restaurants offering high-demand cuisines.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Customize pricing strategies based on market affordability.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424040"/>
                </a:solidFill>
                <a:latin typeface="Rubik"/>
                <a:ea typeface="Rubik"/>
                <a:cs typeface="Rubik"/>
                <a:sym typeface="Rubik"/>
              </a:rPr>
              <a:t>Launch delivery-first models before expanding dine-in features.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42404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619" y="1976403"/>
            <a:ext cx="17914762" cy="6334195"/>
            <a:chOff x="0" y="0"/>
            <a:chExt cx="2370723" cy="8382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0723" cy="838226"/>
            </a:xfrm>
            <a:custGeom>
              <a:avLst/>
              <a:gdLst/>
              <a:ahLst/>
              <a:cxnLst/>
              <a:rect l="l" t="t" r="r" b="b"/>
              <a:pathLst>
                <a:path w="2370723" h="838226">
                  <a:moveTo>
                    <a:pt x="9940" y="0"/>
                  </a:moveTo>
                  <a:lnTo>
                    <a:pt x="2360783" y="0"/>
                  </a:lnTo>
                  <a:cubicBezTo>
                    <a:pt x="2366273" y="0"/>
                    <a:pt x="2370723" y="4450"/>
                    <a:pt x="2370723" y="9940"/>
                  </a:cubicBezTo>
                  <a:lnTo>
                    <a:pt x="2370723" y="828287"/>
                  </a:lnTo>
                  <a:cubicBezTo>
                    <a:pt x="2370723" y="830923"/>
                    <a:pt x="2369676" y="833451"/>
                    <a:pt x="2367812" y="835315"/>
                  </a:cubicBezTo>
                  <a:cubicBezTo>
                    <a:pt x="2365948" y="837179"/>
                    <a:pt x="2363419" y="838226"/>
                    <a:pt x="2360783" y="838226"/>
                  </a:cubicBezTo>
                  <a:lnTo>
                    <a:pt x="9940" y="838226"/>
                  </a:lnTo>
                  <a:cubicBezTo>
                    <a:pt x="4450" y="838226"/>
                    <a:pt x="0" y="833776"/>
                    <a:pt x="0" y="828287"/>
                  </a:cubicBezTo>
                  <a:lnTo>
                    <a:pt x="0" y="9940"/>
                  </a:lnTo>
                  <a:cubicBezTo>
                    <a:pt x="0" y="4450"/>
                    <a:pt x="4450" y="0"/>
                    <a:pt x="9940" y="0"/>
                  </a:cubicBezTo>
                  <a:close/>
                </a:path>
              </a:pathLst>
            </a:custGeom>
            <a:blipFill>
              <a:blip r:embed="rId2"/>
              <a:stretch>
                <a:fillRect t="-24" b="-24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082904" y="365125"/>
            <a:ext cx="612219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9"/>
              </a:lnSpc>
            </a:pPr>
            <a:r>
              <a:rPr lang="en-US" sz="6999" b="1">
                <a:solidFill>
                  <a:srgbClr val="424040"/>
                </a:solidFill>
                <a:latin typeface="Nourd Bold"/>
                <a:ea typeface="Nourd Bold"/>
                <a:cs typeface="Nourd Bold"/>
                <a:sym typeface="Nourd Bold"/>
              </a:rPr>
              <a:t>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6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46162"/>
            <a:ext cx="15446671" cy="2061112"/>
            <a:chOff x="0" y="0"/>
            <a:chExt cx="4068259" cy="5428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8259" cy="542844"/>
            </a:xfrm>
            <a:custGeom>
              <a:avLst/>
              <a:gdLst/>
              <a:ahLst/>
              <a:cxnLst/>
              <a:rect l="l" t="t" r="r" b="b"/>
              <a:pathLst>
                <a:path w="4068259" h="542844">
                  <a:moveTo>
                    <a:pt x="20048" y="0"/>
                  </a:moveTo>
                  <a:lnTo>
                    <a:pt x="4048211" y="0"/>
                  </a:lnTo>
                  <a:cubicBezTo>
                    <a:pt x="4053528" y="0"/>
                    <a:pt x="4058627" y="2112"/>
                    <a:pt x="4062387" y="5872"/>
                  </a:cubicBezTo>
                  <a:cubicBezTo>
                    <a:pt x="4066147" y="9632"/>
                    <a:pt x="4068259" y="14731"/>
                    <a:pt x="4068259" y="20048"/>
                  </a:cubicBezTo>
                  <a:lnTo>
                    <a:pt x="4068259" y="522796"/>
                  </a:lnTo>
                  <a:cubicBezTo>
                    <a:pt x="4068259" y="528113"/>
                    <a:pt x="4066147" y="533213"/>
                    <a:pt x="4062387" y="536972"/>
                  </a:cubicBezTo>
                  <a:cubicBezTo>
                    <a:pt x="4058627" y="540732"/>
                    <a:pt x="4053528" y="542844"/>
                    <a:pt x="4048211" y="542844"/>
                  </a:cubicBezTo>
                  <a:lnTo>
                    <a:pt x="20048" y="542844"/>
                  </a:lnTo>
                  <a:cubicBezTo>
                    <a:pt x="14731" y="542844"/>
                    <a:pt x="9632" y="540732"/>
                    <a:pt x="5872" y="536972"/>
                  </a:cubicBezTo>
                  <a:cubicBezTo>
                    <a:pt x="2112" y="533213"/>
                    <a:pt x="0" y="528113"/>
                    <a:pt x="0" y="522796"/>
                  </a:cubicBezTo>
                  <a:lnTo>
                    <a:pt x="0" y="20048"/>
                  </a:lnTo>
                  <a:cubicBezTo>
                    <a:pt x="0" y="14731"/>
                    <a:pt x="2112" y="9632"/>
                    <a:pt x="5872" y="5872"/>
                  </a:cubicBezTo>
                  <a:cubicBezTo>
                    <a:pt x="9632" y="2112"/>
                    <a:pt x="14731" y="0"/>
                    <a:pt x="20048" y="0"/>
                  </a:cubicBezTo>
                  <a:close/>
                </a:path>
              </a:pathLst>
            </a:custGeom>
            <a:solidFill>
              <a:srgbClr val="FFECE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068259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1524" y="3480674"/>
            <a:ext cx="14661023" cy="6168488"/>
            <a:chOff x="0" y="0"/>
            <a:chExt cx="19548031" cy="822465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9548031" cy="8224651"/>
              <a:chOff x="0" y="0"/>
              <a:chExt cx="3861339" cy="1624622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861340" cy="1624622"/>
              </a:xfrm>
              <a:custGeom>
                <a:avLst/>
                <a:gdLst/>
                <a:ahLst/>
                <a:cxnLst/>
                <a:rect l="l" t="t" r="r" b="b"/>
                <a:pathLst>
                  <a:path w="3861340" h="1624622">
                    <a:moveTo>
                      <a:pt x="21122" y="0"/>
                    </a:moveTo>
                    <a:lnTo>
                      <a:pt x="3840217" y="0"/>
                    </a:lnTo>
                    <a:cubicBezTo>
                      <a:pt x="3845819" y="0"/>
                      <a:pt x="3851192" y="2225"/>
                      <a:pt x="3855153" y="6187"/>
                    </a:cubicBezTo>
                    <a:cubicBezTo>
                      <a:pt x="3859114" y="10148"/>
                      <a:pt x="3861340" y="15520"/>
                      <a:pt x="3861340" y="21122"/>
                    </a:cubicBezTo>
                    <a:lnTo>
                      <a:pt x="3861340" y="1603500"/>
                    </a:lnTo>
                    <a:cubicBezTo>
                      <a:pt x="3861340" y="1609102"/>
                      <a:pt x="3859114" y="1614475"/>
                      <a:pt x="3855153" y="1618436"/>
                    </a:cubicBezTo>
                    <a:cubicBezTo>
                      <a:pt x="3851192" y="1622397"/>
                      <a:pt x="3845819" y="1624622"/>
                      <a:pt x="3840217" y="1624622"/>
                    </a:cubicBezTo>
                    <a:lnTo>
                      <a:pt x="21122" y="1624622"/>
                    </a:lnTo>
                    <a:cubicBezTo>
                      <a:pt x="15520" y="1624622"/>
                      <a:pt x="10148" y="1622397"/>
                      <a:pt x="6187" y="1618436"/>
                    </a:cubicBezTo>
                    <a:cubicBezTo>
                      <a:pt x="2225" y="1614475"/>
                      <a:pt x="0" y="1609102"/>
                      <a:pt x="0" y="1603500"/>
                    </a:cubicBezTo>
                    <a:lnTo>
                      <a:pt x="0" y="21122"/>
                    </a:lnTo>
                    <a:cubicBezTo>
                      <a:pt x="0" y="15520"/>
                      <a:pt x="2225" y="10148"/>
                      <a:pt x="6187" y="6187"/>
                    </a:cubicBezTo>
                    <a:cubicBezTo>
                      <a:pt x="10148" y="2225"/>
                      <a:pt x="15520" y="0"/>
                      <a:pt x="21122" y="0"/>
                    </a:cubicBezTo>
                    <a:close/>
                  </a:path>
                </a:pathLst>
              </a:custGeom>
              <a:solidFill>
                <a:srgbClr val="FFECEC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57150"/>
                <a:ext cx="3861339" cy="16817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33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066458" y="1423564"/>
              <a:ext cx="14224883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424040"/>
                  </a:solidFill>
                  <a:latin typeface="Rubik"/>
                  <a:ea typeface="Rubik"/>
                  <a:cs typeface="Rubik"/>
                  <a:sym typeface="Rubik"/>
                </a:rPr>
                <a:t>trishoolamohan.2311@gmail.com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66458" y="707247"/>
              <a:ext cx="14224883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42404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EMAIL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6458" y="5054000"/>
              <a:ext cx="16486868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424040"/>
                  </a:solidFill>
                  <a:latin typeface="Rubik"/>
                  <a:ea typeface="Rubik"/>
                  <a:cs typeface="Rubik"/>
                  <a:sym typeface="Rubik"/>
                </a:rPr>
                <a:t>Excel | Pivot Tables | Data Cleaning | Dashboarding | PPT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6458" y="4337684"/>
              <a:ext cx="15857795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42404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TOOL</a:t>
              </a:r>
              <a:r>
                <a:rPr lang="en-US" sz="2400" b="1" u="none" strike="noStrike">
                  <a:solidFill>
                    <a:srgbClr val="42404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 USED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458" y="6864068"/>
              <a:ext cx="15790872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424040"/>
                  </a:solidFill>
                  <a:latin typeface="Rubik"/>
                  <a:ea typeface="Rubik"/>
                  <a:cs typeface="Rubik"/>
                  <a:sym typeface="Rubik"/>
                </a:rPr>
                <a:t>Data Analysis  |  Visualization  |  Storytelling.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6458" y="6147751"/>
              <a:ext cx="15790872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42404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SKILLS AP</a:t>
              </a:r>
              <a:r>
                <a:rPr lang="en-US" sz="2400" b="1" u="none" strike="noStrike">
                  <a:solidFill>
                    <a:srgbClr val="42404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PLIED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6458" y="3237864"/>
              <a:ext cx="15790872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424040"/>
                  </a:solidFill>
                  <a:latin typeface="Rubik"/>
                  <a:ea typeface="Rubik"/>
                  <a:cs typeface="Rubik"/>
                  <a:sym typeface="Rubik"/>
                </a:rPr>
                <a:t>Zomato Restuarants Expansion Analysis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6458" y="2521548"/>
              <a:ext cx="14224883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424040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PROJECT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851597" y="1596292"/>
            <a:ext cx="6584806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79"/>
              </a:lnSpc>
            </a:pPr>
            <a:r>
              <a:rPr lang="en-US" sz="5699">
                <a:solidFill>
                  <a:srgbClr val="424040"/>
                </a:solidFill>
                <a:latin typeface="Rubik One"/>
                <a:ea typeface="Rubik One"/>
                <a:cs typeface="Rubik One"/>
                <a:sym typeface="Rubik On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Custom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Rubik One</vt:lpstr>
      <vt:lpstr>Rubik</vt:lpstr>
      <vt:lpstr>Nourd Bold</vt:lpstr>
      <vt:lpstr>Calibri</vt:lpstr>
      <vt:lpstr>Rubik Bold</vt:lpstr>
      <vt:lpstr>ITC Motter Corpus Semicondensed</vt:lpstr>
      <vt:lpstr>Arial</vt:lpstr>
      <vt:lpstr>Nourd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INTERNATIONAL EXPANSION ANALYSIS</dc:title>
  <cp:lastModifiedBy>Windows User</cp:lastModifiedBy>
  <cp:revision>1</cp:revision>
  <dcterms:created xsi:type="dcterms:W3CDTF">2006-08-16T00:00:00Z</dcterms:created>
  <dcterms:modified xsi:type="dcterms:W3CDTF">2025-12-15T19:16:14Z</dcterms:modified>
  <dc:identifier>DAG6iNhXpgI</dc:identifier>
</cp:coreProperties>
</file>